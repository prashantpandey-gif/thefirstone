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36576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1645920" cy="9144000"/>
          </a:xfrm>
          <a:prstGeom prst="rect">
            <a:avLst/>
          </a:prstGeom>
          <a:solidFill>
            <a:srgbClr val="0B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144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LEAD MAGNET · AJNALENS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7132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Your best engineer
can't be at
50 sites.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43484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6B1A"/>
                </a:solidFill>
                <a:latin typeface="Calibri"/>
              </a:rPr>
              <a:t>Their expertise can.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577840"/>
            <a:ext cx="2011680" cy="5029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576072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0ADBD"/>
                </a:solidFill>
                <a:latin typeface="Calibri"/>
              </a:rPr>
              <a:t>Swipe to see how India's top manufacturers
eliminated expert dependency — permanently.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7223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Calibri"/>
              </a:rPr>
              <a:t>→  Swipe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732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AjnaLens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8732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DBD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9144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Expert
Dependency Trap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514600"/>
            <a:ext cx="1828800" cy="5029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743200"/>
            <a:ext cx="8503920" cy="1188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💸  1 breakdown. 1 expert. 200 km away.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9184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Hours of downtime. High travel cost. OEE destroyed.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160520"/>
            <a:ext cx="8503920" cy="1188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🧓  Senior knowledge walks out the door.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0916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Every retirement takes irreplaceable expertise with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577840"/>
            <a:ext cx="8503920" cy="1188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66928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📉  Junior techs freeze without supervision.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2648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Errors, rework, and unsafe workarounds follow.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6995160"/>
            <a:ext cx="8503920" cy="1188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70866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📞  Your current fix? A phone call.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75438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Blind troubleshooting over video — slow and unreliable.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8732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AjnaLens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8732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DBD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9144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From 'wait for the expert'
to 'expert in their ear'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514600"/>
            <a:ext cx="1828800" cy="5029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743200"/>
            <a:ext cx="3931920" cy="5120640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555"/>
                </a:solidFill>
                <a:latin typeface="Calibri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BBBB"/>
                </a:solidFill>
                <a:latin typeface="Calibri"/>
              </a:rPr>
              <a:t>📞  Phone call to HQ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336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BBBB"/>
                </a:solidFill>
                <a:latin typeface="Calibri"/>
              </a:rPr>
              <a:t>⏳  Wait hours (or days)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3834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BBBB"/>
                </a:solidFill>
                <a:latin typeface="Calibri"/>
              </a:rPr>
              <a:t>✈️  Expert flies to 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4301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BBBB"/>
                </a:solidFill>
                <a:latin typeface="Calibri"/>
              </a:rPr>
              <a:t>🔧  Fix. Finally.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64768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BBBB"/>
                </a:solidFill>
                <a:latin typeface="Calibri"/>
              </a:rPr>
              <a:t>💸  ₹50K+ travel + downtime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743200"/>
            <a:ext cx="4206240" cy="5120640"/>
          </a:xfrm>
          <a:prstGeom prst="rect">
            <a:avLst/>
          </a:prstGeom>
          <a:solidFill>
            <a:srgbClr val="08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8803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FF88"/>
                </a:solidFill>
                <a:latin typeface="Calibri"/>
              </a:rPr>
              <a:t>AFTER  ·  AjnaVidya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42900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FFCC"/>
                </a:solidFill>
                <a:latin typeface="Calibri"/>
              </a:rPr>
              <a:t>🥽  Smart glasses stream live 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233672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FFCC"/>
                </a:solidFill>
                <a:latin typeface="Calibri"/>
              </a:rPr>
              <a:t>👁️  Remote expert sees everything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5038344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FFCC"/>
                </a:solidFill>
                <a:latin typeface="Calibri"/>
              </a:rPr>
              <a:t>✍️  Expert annotates in 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5843016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FFCC"/>
                </a:solidFill>
                <a:latin typeface="Calibri"/>
              </a:rPr>
              <a:t>✅  Tech resolves on-site. Minutes.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6647688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FFCC"/>
                </a:solidFill>
                <a:latin typeface="Calibri"/>
              </a:rPr>
              <a:t>💰  Zero travel. Zero waiting.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5074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1A"/>
                </a:solidFill>
                <a:latin typeface="Calibri"/>
              </a:rPr>
              <a:t>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8732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AjnaLens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8732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DBD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9144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AjnaVidya
Connected Worker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514600"/>
            <a:ext cx="2011680" cy="5029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6974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DBD"/>
                </a:solidFill>
                <a:latin typeface="Calibri"/>
              </a:rPr>
              <a:t>Three things it does — nothing else matters more: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383280"/>
            <a:ext cx="8503920" cy="1600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640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6B1A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3611880"/>
            <a:ext cx="45720" cy="109728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3493008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Live Annotated Video Assist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97764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A0ADBD"/>
                </a:solidFill>
                <a:latin typeface="Calibri"/>
              </a:rPr>
              <a:t>Expert sees exactly what the field tech sees. Draws arrows, circles, highlights — in real-time. No guesswork.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212080"/>
            <a:ext cx="8503920" cy="1600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49240"/>
            <a:ext cx="640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6B1A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5440680"/>
            <a:ext cx="45720" cy="109728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321808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Hands-Free SOP Overlays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80644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A0ADBD"/>
                </a:solidFill>
                <a:latin typeface="Calibri"/>
              </a:rPr>
              <a:t>Step-by-step visual work instructions on the actual equipment. Tech follows the overlay. No manual, no memory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7040880"/>
            <a:ext cx="8503920" cy="1600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7178040"/>
            <a:ext cx="640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6B1A"/>
                </a:solidFill>
                <a:latin typeface="Calibr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4440" y="7269480"/>
            <a:ext cx="45720" cy="109728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7150608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Automatic Proof-of-Work Capture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763524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A0ADBD"/>
                </a:solidFill>
                <a:latin typeface="Calibri"/>
              </a:rPr>
              <a:t>Every step logged with photo, timestamp, and signature. Fully audit-ready. No paperwork.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8732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AjnaLens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8732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DBD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9144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THE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AjnaX AI Smart Glasses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20240"/>
            <a:ext cx="2011680" cy="5029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1031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8C42"/>
                </a:solidFill>
                <a:latin typeface="Calibri"/>
              </a:rPr>
              <a:t>"Light as your spectacles. Powerful as your best engineer."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926080"/>
            <a:ext cx="8503920" cy="1024128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9992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🧠  AI Mentor on-device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Trained on your SOPs. Ask in Hindi, English, or Marathi. Get step-by-step answers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096512"/>
            <a:ext cx="8503920" cy="1024128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16966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📷  Camera + Computer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994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Identifies equipment, model numbers, and fault patterns without manual lookup.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266944"/>
            <a:ext cx="8503920" cy="1024128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34009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📡  Bandwidth-friendly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698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Works on low-connectivity field sites. Optimised for 4G / spotty networks.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37376"/>
            <a:ext cx="8503920" cy="1024128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🔊  Voice-first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9402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Hands stay on the equipment. Voice logs, voice queries, voice confirmations.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7607808"/>
            <a:ext cx="8503920" cy="1024128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7680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⚡  Edge AI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8110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Computation on-device. No cloud dependency for core SOP guidance.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8732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AjnaLens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8732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DBD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9144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Numbers that matter.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37360"/>
            <a:ext cx="1645920" cy="5029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0"/>
            <a:ext cx="4160520" cy="2743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2286000"/>
            <a:ext cx="416052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56032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6B1A"/>
                </a:solidFill>
                <a:latin typeface="Calibri"/>
              </a:rPr>
              <a:t>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D"/>
                </a:solidFill>
                <a:latin typeface="Calibri"/>
              </a:rPr>
              <a:t>Reduction in OMS downtime
&amp; expert dependency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79" y="2286000"/>
            <a:ext cx="4160520" cy="2743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79" y="2286000"/>
            <a:ext cx="416052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56032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6B1A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39" y="39776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D"/>
                </a:solidFill>
                <a:latin typeface="Calibri"/>
              </a:rPr>
              <a:t>On-site expert visits needed
for Tier-1 troubleshooting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394960"/>
            <a:ext cx="4160520" cy="2743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5394960"/>
            <a:ext cx="416052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6B1A"/>
                </a:solidFill>
                <a:latin typeface="Calibri"/>
              </a:rPr>
              <a:t>3×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70866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D"/>
                </a:solidFill>
                <a:latin typeface="Calibri"/>
              </a:rPr>
              <a:t>Faster first-call resolution
vs phone-based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5394960"/>
            <a:ext cx="4160520" cy="2743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79" y="5394960"/>
            <a:ext cx="416052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566928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6B1A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39" y="70866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D"/>
                </a:solidFill>
                <a:latin typeface="Calibri"/>
              </a:rPr>
              <a:t>Audit-ready proof-of-work
automatically captured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8732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AjnaLens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8732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DBD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9144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LIVE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India's best trust
AjnaLens.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514600"/>
            <a:ext cx="1828800" cy="5029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834640"/>
            <a:ext cx="4160520" cy="1737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🚗  Tata Motors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ADBD"/>
                </a:solidFill>
                <a:latin typeface="Calibri"/>
              </a:rPr>
              <a:t>Remote Assistance + Guided Assembly
Truck Plant, Pimpri · 3 live POCs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79" y="2834640"/>
            <a:ext cx="4160520" cy="1737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39" y="29260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⚡  Suzlon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39" y="342900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ADBD"/>
                </a:solidFill>
                <a:latin typeface="Calibri"/>
              </a:rPr>
              <a:t>AI Smart Glasses for wind O&amp;M technicians
Proven 45% downtime reduction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800600"/>
            <a:ext cx="4160520" cy="1737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92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🔩  SKF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ADBD"/>
                </a:solidFill>
                <a:latin typeface="Calibri"/>
              </a:rPr>
              <a:t>Remote Assistance SaaS (6-month pilot)
Bangalore plant ·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79" y="4800600"/>
            <a:ext cx="4160520" cy="1737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39" y="4892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🔧  Hyundai Motor India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39" y="539496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ADBD"/>
                </a:solidFill>
                <a:latin typeface="Calibri"/>
              </a:rPr>
              <a:t>CAVE VR setup — hand &amp; head tracking
Advanced assembly simulation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766560"/>
            <a:ext cx="4160520" cy="1737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858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💡  UnoMinda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36092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ADBD"/>
                </a:solidFill>
                <a:latin typeface="Calibri"/>
              </a:rPr>
              <a:t>Remote Assistance + AR Headsets pilot
Haryana plant · In deployment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79" y="6766560"/>
            <a:ext cx="4160520" cy="1737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39" y="6858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🏛  1,500+ ITIs / 9 States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39" y="736092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ADBD"/>
                </a:solidFill>
                <a:latin typeface="Calibri"/>
              </a:rPr>
              <a:t>AjnaXR Station Simulators — welding, painting
Largest XR skilling deployment in 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8732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AjnaLens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8732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DBD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9144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THE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Remote Assistance
is just the start.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514600"/>
            <a:ext cx="1828800" cy="5029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69748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DBD"/>
                </a:solidFill>
                <a:latin typeface="Calibri"/>
              </a:rPr>
              <a:t>AjnaLens covers the full industrial lifecycle: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383280"/>
            <a:ext cx="8503920" cy="16459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3383280"/>
            <a:ext cx="1371600" cy="1645920"/>
          </a:xfrm>
          <a:prstGeom prst="rect">
            <a:avLst/>
          </a:prstGeom>
          <a:solidFill>
            <a:srgbClr val="3F1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3931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1A"/>
                </a:solidFill>
                <a:latin typeface="Calibri"/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931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VR Safety Simulations  ·  VR Skill &amp; SOP Training  ·  1,500+ simulators 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212080"/>
            <a:ext cx="8503920" cy="16459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212080"/>
            <a:ext cx="1371600" cy="1645920"/>
          </a:xfrm>
          <a:prstGeom prst="rect">
            <a:avLst/>
          </a:prstGeom>
          <a:solidFill>
            <a:srgbClr val="10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57607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4BBFF"/>
                </a:solidFill>
                <a:latin typeface="Calibri"/>
              </a:rPr>
              <a:t>EXECUTE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760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AR Remote Assistance  ·  Guided Assembly  ·  AR Inspection &amp; VLO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7040880"/>
            <a:ext cx="8503920" cy="16459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7040880"/>
            <a:ext cx="1371600" cy="1645920"/>
          </a:xfrm>
          <a:prstGeom prst="rect">
            <a:avLst/>
          </a:prstGeom>
          <a:solidFill>
            <a:srgbClr val="103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7589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4FF88"/>
                </a:solidFill>
                <a:latin typeface="Calibri"/>
              </a:rPr>
              <a:t>OPTIMIZE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75895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OMS / CXO Dashboard  ·  Agentic AI Layer  ·  Real-time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8732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AjnaLens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8732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DBD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9144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WHY AJNALENS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Built at IIT Bombay.
Trusted by India.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514600"/>
            <a:ext cx="1828800" cy="5029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834640"/>
            <a:ext cx="4160520" cy="1737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🎓  IIT Bombay Deep-Tech Origin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Founded 2014 · India's sovereign XR + AI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79" y="2834640"/>
            <a:ext cx="4160520" cy="1737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39" y="29260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📜  40+ Patents Filed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39" y="342900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Across XR, AI, and spatial computing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800600"/>
            <a:ext cx="4160520" cy="1737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92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👥  5 Lakh+ Learners Upskilled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Across industrial and vocational programmes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79" y="4800600"/>
            <a:ext cx="4160520" cy="1737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39" y="4892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🏭  1,500+ Simulators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39" y="539496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9 Indian states · largest XR skilling deployment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766560"/>
            <a:ext cx="4160520" cy="1737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858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🏆  CES 2023 Innovation Award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36092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AWE Auggie Award · iDEX Ministry of Defence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79" y="6766560"/>
            <a:ext cx="4160520" cy="1737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39" y="6858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💰  Backed by Lenskart &amp; Paytm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39" y="736092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DBD"/>
                </a:solidFill>
                <a:latin typeface="Calibri"/>
              </a:rPr>
              <a:t>Founders + Maharashtra Defence &amp; Aerospace VC Fund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8732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Calibri"/>
              </a:rPr>
              <a:t>AjnaLens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8732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DBD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C42"/>
                </a:solidFill>
                <a:latin typeface="Calibri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Want to see this
at your plant?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657600"/>
            <a:ext cx="2743200" cy="5029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DBD"/>
                </a:solidFill>
                <a:latin typeface="Calibri"/>
              </a:rPr>
              <a:t>Book a 20-minute live demo.
We'll show you Remote Assistance running on actual
smart glasses — your SOPs, your equipment, your 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577840"/>
            <a:ext cx="7863840" cy="1463040"/>
          </a:xfrm>
          <a:prstGeom prst="rect">
            <a:avLst/>
          </a:prstGeom>
          <a:solidFill>
            <a:srgbClr val="15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7150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📧  prashantpandey@ajnalens.com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2179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D"/>
                </a:solidFill>
                <a:latin typeface="Calibri"/>
              </a:rPr>
              <a:t>📱  +91 70219 08581   ·   🌐  www.ajnalens.com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7325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DBD"/>
                </a:solidFill>
                <a:latin typeface="Calibri"/>
              </a:rPr>
              <a:t>Prashant Pandey  ·  Lead Enterprise, B2G &amp; B2D  ·  AjnaLens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8732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DBD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